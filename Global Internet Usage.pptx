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7" r:id="rId2"/>
    <p:sldId id="259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EA7B-642E-EC94-66D0-A6049441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50FFE-EE37-920E-56E4-C1DB25DE0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A1F49-0018-5522-CF87-2E659275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B36F-3F40-5113-C6A9-E36D5AC9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829E8-EB16-B92D-76C7-EC715393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80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0D0A-230E-E8EC-2D74-BE14CADC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D647A-1277-3959-5754-8A65627B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1498E-BF0D-2507-A39A-5B40FAA6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20110-6182-63C2-1214-A2CE8A74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6F84-A6B7-4F0E-F5BB-3C0AE26A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2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6A62-8F91-F158-EC7F-42463C9A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D8447-C67F-53A7-1695-0B75D0E83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2603D-56F9-042D-CE50-8F30D0A4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EBBC1-5A5B-2A20-C297-2D86BABC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2C1A-B4FA-8FC8-2D98-0AA3959A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39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7E29-7D25-FEFE-BFA0-21087A0C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BF9B-E2F5-A6CD-DB0A-3790EECF0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764BB-0199-7AC8-9BC1-C13319F2B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E8883-D1AC-D078-CA46-104AD72A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EEE35-F6FC-F8F7-E751-2C2C24F2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38663-9990-B4D7-68C4-EAB7045A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54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BB09-7897-3314-A832-9942E63F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234AA-2E85-589F-BDAB-DA34D7EC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F8639-5709-3FBD-1D0F-EC830DF79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593CA-C3D0-7A2D-DC27-35C9139CF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E8E15-D8ED-5D3B-B485-BC98DA9F9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545E1-F8BD-721F-8A30-585B8D00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4C869-09B1-27E5-05C5-4411F893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65673-CB91-4010-5D2A-AF3EAD78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80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47F1-AA10-C502-8A47-4195DBF9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B2884-DA25-FC53-286C-AD777687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B0093-7D25-769E-E3B6-4E4B092C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288F0-4136-F32E-37AB-FC4502D3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40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E3136-56B8-F228-18A5-360361FD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2DB97-0800-F6BE-7FCC-18F7A3264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3B110-FEAF-113E-9157-80E8FDF1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6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0CC3-0369-A3B3-3581-EE022D7F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A65FF-556C-BF17-8980-97D61FC86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EA1B1-7050-6CEC-55D6-C5B2D22B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3B901-4B2D-99B9-36AE-4021AD7B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07A35-B73B-A573-0A91-C9CB5830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726F5-26FC-8AD0-A223-BE04741F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30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6D03-ECB7-2288-3CD4-FB37C09E8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BA91A-BE3B-FC9F-E87D-129E34FD2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95BDC-F76C-9EEA-18AA-37E349BAA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F224F-C286-2275-D60A-E2AFC0D9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44C86-FB11-7484-A37B-6CBCA675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62AEE-C176-C5E3-39CA-C366D74C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53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FE4E-92EE-CE92-6411-CFCF12CB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78D3E-851B-B1A7-8FE5-918B627B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F180-D667-E580-82A8-062AF18A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68E4D-66C1-4B2C-4772-228EE412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8D66A-08EE-AAD9-5129-737E78D0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81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F14A4-5ADB-EBB7-05AB-D83B19058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34F91-FBD2-EDA4-3F4C-D86E8B051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186C-7D32-7A83-8E26-E770AC1B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93378-E710-CA28-9889-8CBE5D8B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2E24-85F7-D8B5-C083-39DB0203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79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667AA-0539-2074-2DE2-B44CA0AA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66168-ADAA-C035-B9FE-9FC5B710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97537-A554-CD36-36DA-E3B0AF0C1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15A02-2A55-40CC-AEEC-F6188BBB70C7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CA00A-9712-F1B5-D400-AF3A81C8C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66E7E-C06B-9D0D-9CCA-6FC14D38D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3E82E-A7B0-4C32-8B5D-552BDA857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4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FB9C-7E86-D421-51ED-2E1747DA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286" y="191505"/>
            <a:ext cx="5464630" cy="75610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Global Internet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E0E63-199C-37A6-C605-644B1BCF7E9D}"/>
              </a:ext>
            </a:extLst>
          </p:cNvPr>
          <p:cNvSpPr txBox="1"/>
          <p:nvPr/>
        </p:nvSpPr>
        <p:spPr>
          <a:xfrm>
            <a:off x="664577" y="894752"/>
            <a:ext cx="11245771" cy="526297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GB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endParaRPr lang="en-GB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clear differences in internet growth across continents, countries, and income groups.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Asia contributes the largest share of new internet users because of its large population, while Europe and North America add fewer users as their markets are closer to saturation.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Africa and South America show the fastest growth, indicating rapid expansion from later adoption.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Lower- and lower-middle-income countries grow faster than high-income countries, where growth has slowed as these countries are close to saturation.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uture internet growth will be driven mainly by developing regions, even though developed regions already have high usage levels.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32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705-1774-7B72-6FC1-D1351123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1" y="416688"/>
            <a:ext cx="11424213" cy="1423687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has global internet usage evolved over time?</a:t>
            </a:r>
            <a:br>
              <a:rPr lang="en-GB" b="1" dirty="0"/>
            </a:br>
            <a:endParaRPr lang="en-GB" b="1" dirty="0"/>
          </a:p>
        </p:txBody>
      </p:sp>
      <p:pic>
        <p:nvPicPr>
          <p:cNvPr id="11" name="Picture 10" descr="A graph on a screen&#10;&#10;AI-generated content may be incorrect.">
            <a:extLst>
              <a:ext uri="{FF2B5EF4-FFF2-40B4-BE49-F238E27FC236}">
                <a16:creationId xmlns:a16="http://schemas.microsoft.com/office/drawing/2014/main" id="{F129CB0E-6C05-5D19-1F0A-9B7895B8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048" y="1701478"/>
            <a:ext cx="9952799" cy="360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8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BD5E-654D-1019-E187-443D0094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701759" cy="52612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Global internet usage by continent and country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0A13B5-5698-6E36-56DF-EA33051C2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886" y="1986340"/>
            <a:ext cx="6457648" cy="3408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3AE308-F684-5550-B2C7-53E544A2E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37" y="1986340"/>
            <a:ext cx="4300959" cy="430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02F-F61E-A8B4-34A9-678D70B7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944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Global internet usage by income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761A5-86D2-685C-E565-63A7B0CE8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29" y="1577284"/>
            <a:ext cx="8125428" cy="5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CC9A-094D-9B1B-E166-A8C4077C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chemeClr val="accent4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Expected pattern of world internet growth from 2021 to 2031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4A865-5838-3AD8-A43F-B9AC9B1A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622"/>
            <a:ext cx="6612940" cy="3970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32D89C-706E-2086-1362-FBCD83959951}"/>
              </a:ext>
            </a:extLst>
          </p:cNvPr>
          <p:cNvSpPr txBox="1"/>
          <p:nvPr/>
        </p:nvSpPr>
        <p:spPr>
          <a:xfrm>
            <a:off x="6612940" y="1703047"/>
            <a:ext cx="534750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 sigmoid model shows an RMSE of approximately 131 million users and a relative error of about 8.3%, indicating a reasonably good fit with the historical data. When compared to real-world estimates for 2025, which report around 5.5–6 billion global internet users. 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~Model’s forecast aligns closely with actual figures. This demonstrates that the logistic model not only captures the correct S-shaped pattern of adoption but also provides stable and reasonably accurate long-term predictions, making it suitable for understanding global internet growth trends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995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238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Global Internet Usage</vt:lpstr>
      <vt:lpstr> How has global internet usage evolved over time? </vt:lpstr>
      <vt:lpstr>Global internet usage by continent and country</vt:lpstr>
      <vt:lpstr>Global internet usage by income groups</vt:lpstr>
      <vt:lpstr>Expected pattern of world internet growth from 2021 to 2031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Lakmali Amarawardana</dc:creator>
  <cp:lastModifiedBy>Lakmali Amarawardana</cp:lastModifiedBy>
  <cp:revision>3</cp:revision>
  <dcterms:created xsi:type="dcterms:W3CDTF">2025-12-18T20:50:26Z</dcterms:created>
  <dcterms:modified xsi:type="dcterms:W3CDTF">2026-02-02T19:13:13Z</dcterms:modified>
</cp:coreProperties>
</file>